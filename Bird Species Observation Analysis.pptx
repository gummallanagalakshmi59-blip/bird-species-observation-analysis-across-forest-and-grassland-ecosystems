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6"/>
  </p:notesMasterIdLst>
  <p:handoutMasterIdLst>
    <p:handoutMasterId r:id="rId27"/>
  </p:handoutMasterIdLst>
  <p:sldIdLst>
    <p:sldId id="312" r:id="rId5"/>
    <p:sldId id="304" r:id="rId6"/>
    <p:sldId id="282" r:id="rId7"/>
    <p:sldId id="323" r:id="rId8"/>
    <p:sldId id="324" r:id="rId9"/>
    <p:sldId id="325" r:id="rId10"/>
    <p:sldId id="326" r:id="rId11"/>
    <p:sldId id="327" r:id="rId12"/>
    <p:sldId id="328" r:id="rId13"/>
    <p:sldId id="329" r:id="rId14"/>
    <p:sldId id="330" r:id="rId15"/>
    <p:sldId id="331" r:id="rId16"/>
    <p:sldId id="332" r:id="rId17"/>
    <p:sldId id="333" r:id="rId18"/>
    <p:sldId id="334" r:id="rId19"/>
    <p:sldId id="335" r:id="rId20"/>
    <p:sldId id="336" r:id="rId21"/>
    <p:sldId id="337" r:id="rId22"/>
    <p:sldId id="338" r:id="rId23"/>
    <p:sldId id="339" r:id="rId24"/>
    <p:sldId id="297" r:id="rId25"/>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varScale="1">
        <p:scale>
          <a:sx n="78" d="100"/>
          <a:sy n="78" d="100"/>
        </p:scale>
        <p:origin x="878" y="7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723536" y="934065"/>
            <a:ext cx="6892412" cy="2930012"/>
          </a:xfrm>
        </p:spPr>
        <p:txBody>
          <a:bodyPr anchor="ctr"/>
          <a:lstStyle/>
          <a:p>
            <a:r>
              <a:rPr lang="en-US" dirty="0"/>
              <a:t>Bird Species Observation Analysis</a:t>
            </a:r>
            <a:br>
              <a:rPr lang="en-US" dirty="0"/>
            </a:br>
            <a:r>
              <a:rPr lang="en-US" sz="1800" b="0" dirty="0"/>
              <a:t>Across Forest and Grassland Ecosystems</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550606"/>
            <a:ext cx="6583680" cy="629265"/>
          </a:xfrm>
        </p:spPr>
        <p:txBody>
          <a:bodyPr/>
          <a:lstStyle/>
          <a:p>
            <a:r>
              <a:rPr lang="en-IN" dirty="0">
                <a:latin typeface="Times New Roman" panose="02020603050405020304" pitchFamily="18" charset="0"/>
                <a:cs typeface="Times New Roman" panose="02020603050405020304" pitchFamily="18" charset="0"/>
              </a:rPr>
              <a:t>CONTENTS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1317522"/>
            <a:ext cx="6583680" cy="5540477"/>
          </a:xfrm>
        </p:spPr>
        <p:txBody>
          <a:bodyPr>
            <a:normAutofit fontScale="92500" lnSpcReduction="20000"/>
          </a:bodyPr>
          <a:lstStyle/>
          <a:p>
            <a:r>
              <a:rPr lang="en-IN" sz="2600" dirty="0">
                <a:latin typeface="Times New Roman" panose="02020603050405020304" pitchFamily="18" charset="0"/>
                <a:cs typeface="Times New Roman" panose="02020603050405020304" pitchFamily="18" charset="0"/>
              </a:rPr>
              <a:t>Executive Summary </a:t>
            </a:r>
          </a:p>
          <a:p>
            <a:r>
              <a:rPr lang="en-IN" sz="2600" dirty="0">
                <a:latin typeface="Times New Roman" panose="02020603050405020304" pitchFamily="18" charset="0"/>
                <a:cs typeface="Times New Roman" panose="02020603050405020304" pitchFamily="18" charset="0"/>
              </a:rPr>
              <a:t>Objective </a:t>
            </a:r>
          </a:p>
          <a:p>
            <a:r>
              <a:rPr lang="en-IN" sz="2600" dirty="0">
                <a:latin typeface="Times New Roman" panose="02020603050405020304" pitchFamily="18" charset="0"/>
                <a:cs typeface="Times New Roman" panose="02020603050405020304" pitchFamily="18" charset="0"/>
              </a:rPr>
              <a:t>Dataset Overview </a:t>
            </a:r>
          </a:p>
          <a:p>
            <a:r>
              <a:rPr lang="en-IN" sz="2600" dirty="0">
                <a:latin typeface="Times New Roman" panose="02020603050405020304" pitchFamily="18" charset="0"/>
                <a:cs typeface="Times New Roman" panose="02020603050405020304" pitchFamily="18" charset="0"/>
              </a:rPr>
              <a:t>Problem Statement </a:t>
            </a:r>
          </a:p>
          <a:p>
            <a:r>
              <a:rPr lang="en-IN" sz="2600" dirty="0">
                <a:latin typeface="Times New Roman" panose="02020603050405020304" pitchFamily="18" charset="0"/>
                <a:cs typeface="Times New Roman" panose="02020603050405020304" pitchFamily="18" charset="0"/>
              </a:rPr>
              <a:t>Data Preparation &amp; Cleaning </a:t>
            </a:r>
          </a:p>
          <a:p>
            <a:r>
              <a:rPr lang="en-IN" sz="2600" dirty="0">
                <a:latin typeface="Times New Roman" panose="02020603050405020304" pitchFamily="18" charset="0"/>
                <a:cs typeface="Times New Roman" panose="02020603050405020304" pitchFamily="18" charset="0"/>
              </a:rPr>
              <a:t>Analysis Performed </a:t>
            </a:r>
          </a:p>
          <a:p>
            <a:r>
              <a:rPr lang="en-IN" sz="2600" dirty="0">
                <a:latin typeface="Times New Roman" panose="02020603050405020304" pitchFamily="18" charset="0"/>
                <a:cs typeface="Times New Roman" panose="02020603050405020304" pitchFamily="18" charset="0"/>
              </a:rPr>
              <a:t>Key Performance Indicators (KPIs) </a:t>
            </a:r>
          </a:p>
          <a:p>
            <a:r>
              <a:rPr lang="en-IN" sz="2600" dirty="0">
                <a:latin typeface="Times New Roman" panose="02020603050405020304" pitchFamily="18" charset="0"/>
                <a:cs typeface="Times New Roman" panose="02020603050405020304" pitchFamily="18" charset="0"/>
              </a:rPr>
              <a:t>Dashboard Visualizations </a:t>
            </a:r>
          </a:p>
          <a:p>
            <a:r>
              <a:rPr lang="en-IN" sz="2600" dirty="0">
                <a:latin typeface="Times New Roman" panose="02020603050405020304" pitchFamily="18" charset="0"/>
                <a:cs typeface="Times New Roman" panose="02020603050405020304" pitchFamily="18" charset="0"/>
              </a:rPr>
              <a:t>Insights &amp; Findings </a:t>
            </a:r>
          </a:p>
          <a:p>
            <a:r>
              <a:rPr lang="en-IN" sz="2600" dirty="0">
                <a:latin typeface="Times New Roman" panose="02020603050405020304" pitchFamily="18" charset="0"/>
                <a:cs typeface="Times New Roman" panose="02020603050405020304" pitchFamily="18" charset="0"/>
              </a:rPr>
              <a:t>Business Recommendations </a:t>
            </a:r>
          </a:p>
          <a:p>
            <a:r>
              <a:rPr lang="en-IN" sz="2600" dirty="0">
                <a:latin typeface="Times New Roman" panose="02020603050405020304" pitchFamily="18" charset="0"/>
                <a:cs typeface="Times New Roman" panose="02020603050405020304" pitchFamily="18" charset="0"/>
              </a:rPr>
              <a:t>Conclusion</a:t>
            </a:r>
          </a:p>
          <a:p>
            <a:endParaRPr lang="en-US" dirty="0"/>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5" y="1057274"/>
            <a:ext cx="7965461" cy="994164"/>
          </a:xfrm>
        </p:spPr>
        <p:txBody>
          <a:bodyPr/>
          <a:lstStyle/>
          <a:p>
            <a:r>
              <a:rPr lang="en-IN" dirty="0"/>
              <a:t>EXECUTIVE SUMMARY</a:t>
            </a:r>
            <a:endParaRPr lang="en-US" dirty="0"/>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460565" y="2303029"/>
            <a:ext cx="7965460" cy="3497698"/>
          </a:xfrm>
        </p:spPr>
        <p:txBody>
          <a:bodyPr/>
          <a:lstStyle/>
          <a:p>
            <a:pPr marL="0" indent="0" algn="just">
              <a:buNone/>
            </a:pPr>
            <a:r>
              <a:rPr lang="en-US" sz="2800" dirty="0">
                <a:latin typeface="Times New Roman" panose="02020603050405020304" pitchFamily="18" charset="0"/>
                <a:cs typeface="Times New Roman" panose="02020603050405020304" pitchFamily="18" charset="0"/>
              </a:rPr>
              <a:t>This project presents an analytical study of bird species observations across forest and grassland habitats. The analysis focuses on understanding biodiversity, environmental impact, and species behavior. The dashboard provides insights into species distribution, habitat comparison, and environmental influences, helping support data-driven decisions for conservation and ecosystem management</a:t>
            </a:r>
            <a:r>
              <a:rPr lang="en-US" dirty="0"/>
              <a:t>.</a:t>
            </a:r>
          </a:p>
          <a:p>
            <a:pPr marL="0" indent="0">
              <a:buNone/>
            </a:pPr>
            <a:endParaRPr lang="en-US" dirty="0"/>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3</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21E85-F007-6E08-594E-0758E788D28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OBJECTIVE</a:t>
            </a:r>
          </a:p>
        </p:txBody>
      </p:sp>
      <p:sp>
        <p:nvSpPr>
          <p:cNvPr id="3" name="Content Placeholder 2">
            <a:extLst>
              <a:ext uri="{FF2B5EF4-FFF2-40B4-BE49-F238E27FC236}">
                <a16:creationId xmlns:a16="http://schemas.microsoft.com/office/drawing/2014/main" id="{381CA9D9-847B-894E-64D9-39872FA80CE4}"/>
              </a:ext>
            </a:extLst>
          </p:cNvPr>
          <p:cNvSpPr>
            <a:spLocks noGrp="1"/>
          </p:cNvSpPr>
          <p:nvPr>
            <p:ph sz="half" idx="2"/>
          </p:nvPr>
        </p:nvSpPr>
        <p:spPr>
          <a:xfrm>
            <a:off x="3460565" y="2303029"/>
            <a:ext cx="7965460" cy="3674984"/>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The main objectives of this project are:</a:t>
            </a:r>
          </a:p>
          <a:p>
            <a:pPr algn="just"/>
            <a:r>
              <a:rPr lang="en-US" sz="2400" dirty="0">
                <a:latin typeface="Times New Roman" panose="02020603050405020304" pitchFamily="18" charset="0"/>
                <a:cs typeface="Times New Roman" panose="02020603050405020304" pitchFamily="18" charset="0"/>
              </a:rPr>
              <a:t>To analyze bird species distribution across forest and grassland habitats </a:t>
            </a:r>
          </a:p>
          <a:p>
            <a:pPr algn="just"/>
            <a:r>
              <a:rPr lang="en-US" sz="2400" dirty="0">
                <a:latin typeface="Times New Roman" panose="02020603050405020304" pitchFamily="18" charset="0"/>
                <a:cs typeface="Times New Roman" panose="02020603050405020304" pitchFamily="18" charset="0"/>
              </a:rPr>
              <a:t>To compare biodiversity levels between different ecosystems </a:t>
            </a:r>
          </a:p>
          <a:p>
            <a:pPr algn="just"/>
            <a:r>
              <a:rPr lang="en-US" sz="2400" dirty="0">
                <a:latin typeface="Times New Roman" panose="02020603050405020304" pitchFamily="18" charset="0"/>
                <a:cs typeface="Times New Roman" panose="02020603050405020304" pitchFamily="18" charset="0"/>
              </a:rPr>
              <a:t>To understand the effect of environmental factors such as temperature, humidity, wind, and sky conditions </a:t>
            </a:r>
          </a:p>
          <a:p>
            <a:pPr algn="just"/>
            <a:r>
              <a:rPr lang="en-US" sz="2400" dirty="0">
                <a:latin typeface="Times New Roman" panose="02020603050405020304" pitchFamily="18" charset="0"/>
                <a:cs typeface="Times New Roman" panose="02020603050405020304" pitchFamily="18" charset="0"/>
              </a:rPr>
              <a:t>To study temporal trends like seasonal and yearly patterns </a:t>
            </a:r>
          </a:p>
          <a:p>
            <a:pPr algn="just"/>
            <a:r>
              <a:rPr lang="en-US" sz="2400" dirty="0">
                <a:latin typeface="Times New Roman" panose="02020603050405020304" pitchFamily="18" charset="0"/>
                <a:cs typeface="Times New Roman" panose="02020603050405020304" pitchFamily="18" charset="0"/>
              </a:rPr>
              <a:t>To build an interactive dashboard for better decision-making </a:t>
            </a:r>
          </a:p>
          <a:p>
            <a:endParaRPr lang="en-IN" dirty="0"/>
          </a:p>
        </p:txBody>
      </p:sp>
      <p:sp>
        <p:nvSpPr>
          <p:cNvPr id="4" name="Slide Number Placeholder 3">
            <a:extLst>
              <a:ext uri="{FF2B5EF4-FFF2-40B4-BE49-F238E27FC236}">
                <a16:creationId xmlns:a16="http://schemas.microsoft.com/office/drawing/2014/main" id="{65A955F3-1EF7-A705-DEB6-B989752EE28C}"/>
              </a:ext>
            </a:extLst>
          </p:cNvPr>
          <p:cNvSpPr>
            <a:spLocks noGrp="1"/>
          </p:cNvSpPr>
          <p:nvPr>
            <p:ph type="sldNum" sz="quarter" idx="10"/>
          </p:nvPr>
        </p:nvSpPr>
        <p:spPr/>
        <p:txBody>
          <a:bodyPr/>
          <a:lstStyle/>
          <a:p>
            <a:fld id="{48F63A3B-78C7-47BE-AE5E-E10140E04643}" type="slidenum">
              <a:rPr lang="en-US" smtClean="0"/>
              <a:pPr/>
              <a:t>4</a:t>
            </a:fld>
            <a:endParaRPr lang="en-US" dirty="0"/>
          </a:p>
        </p:txBody>
      </p:sp>
    </p:spTree>
    <p:extLst>
      <p:ext uri="{BB962C8B-B14F-4D97-AF65-F5344CB8AC3E}">
        <p14:creationId xmlns:p14="http://schemas.microsoft.com/office/powerpoint/2010/main" val="2603971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83F4F-45BB-C3E6-F51F-438B82EAF2D9}"/>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4CA89EC4-229D-DCE2-3C61-DD8B5ACF3D5C}"/>
              </a:ext>
            </a:extLst>
          </p:cNvPr>
          <p:cNvSpPr>
            <a:spLocks noGrp="1"/>
          </p:cNvSpPr>
          <p:nvPr>
            <p:ph sz="half" idx="2"/>
          </p:nvPr>
        </p:nvSpPr>
        <p:spPr>
          <a:xfrm>
            <a:off x="3460565" y="2303029"/>
            <a:ext cx="7965460" cy="3969952"/>
          </a:xfrm>
        </p:spPr>
        <p:txBody>
          <a:bodyPr>
            <a:normAutofit lnSpcReduction="10000"/>
          </a:bodyPr>
          <a:lstStyle/>
          <a:p>
            <a:pPr marL="0" indent="0" algn="just">
              <a:buNone/>
            </a:pPr>
            <a:r>
              <a:rPr lang="en-US" sz="2400" dirty="0">
                <a:latin typeface="Times New Roman" panose="02020603050405020304" pitchFamily="18" charset="0"/>
                <a:cs typeface="Times New Roman" panose="02020603050405020304" pitchFamily="18" charset="0"/>
              </a:rPr>
              <a:t>Bird observation data is large and complex, making it difficult to extract meaningful insights manually. </a:t>
            </a:r>
          </a:p>
          <a:p>
            <a:pPr marL="0" indent="0" algn="just">
              <a:buNone/>
            </a:pPr>
            <a:r>
              <a:rPr lang="en-US" sz="2400" dirty="0">
                <a:latin typeface="Times New Roman" panose="02020603050405020304" pitchFamily="18" charset="0"/>
                <a:cs typeface="Times New Roman" panose="02020603050405020304" pitchFamily="18" charset="0"/>
              </a:rPr>
              <a:t>Without proper analysis:</a:t>
            </a:r>
          </a:p>
          <a:p>
            <a:pPr algn="just"/>
            <a:r>
              <a:rPr lang="en-US" sz="2400" dirty="0">
                <a:latin typeface="Times New Roman" panose="02020603050405020304" pitchFamily="18" charset="0"/>
                <a:cs typeface="Times New Roman" panose="02020603050405020304" pitchFamily="18" charset="0"/>
              </a:rPr>
              <a:t>It is hard to identify biodiversity-rich areas </a:t>
            </a:r>
          </a:p>
          <a:p>
            <a:pPr algn="just"/>
            <a:r>
              <a:rPr lang="en-US" sz="2400" dirty="0">
                <a:latin typeface="Times New Roman" panose="02020603050405020304" pitchFamily="18" charset="0"/>
                <a:cs typeface="Times New Roman" panose="02020603050405020304" pitchFamily="18" charset="0"/>
              </a:rPr>
              <a:t>Environmental impacts on bird activity are unclear </a:t>
            </a:r>
          </a:p>
          <a:p>
            <a:pPr algn="just"/>
            <a:r>
              <a:rPr lang="en-US" sz="2400" dirty="0">
                <a:latin typeface="Times New Roman" panose="02020603050405020304" pitchFamily="18" charset="0"/>
                <a:cs typeface="Times New Roman" panose="02020603050405020304" pitchFamily="18" charset="0"/>
              </a:rPr>
              <a:t>Species behavior patterns are not easily visible </a:t>
            </a:r>
          </a:p>
          <a:p>
            <a:pPr algn="just"/>
            <a:r>
              <a:rPr lang="en-US" sz="2400" dirty="0">
                <a:latin typeface="Times New Roman" panose="02020603050405020304" pitchFamily="18" charset="0"/>
                <a:cs typeface="Times New Roman" panose="02020603050405020304" pitchFamily="18" charset="0"/>
              </a:rPr>
              <a:t>Raw data cannot support decision-making </a:t>
            </a:r>
          </a:p>
          <a:p>
            <a:pPr marL="0" indent="0" algn="just">
              <a:buNone/>
            </a:pPr>
            <a:r>
              <a:rPr lang="en-US" sz="2400" dirty="0">
                <a:latin typeface="Times New Roman" panose="02020603050405020304" pitchFamily="18" charset="0"/>
                <a:cs typeface="Times New Roman" panose="02020603050405020304" pitchFamily="18" charset="0"/>
              </a:rPr>
              <a:t>Therefore, there is a need for structured data analysis and visualization to transform raw data into actionable insights.</a:t>
            </a:r>
          </a:p>
          <a:p>
            <a:endParaRPr lang="en-IN" dirty="0"/>
          </a:p>
        </p:txBody>
      </p:sp>
      <p:sp>
        <p:nvSpPr>
          <p:cNvPr id="4" name="Slide Number Placeholder 3">
            <a:extLst>
              <a:ext uri="{FF2B5EF4-FFF2-40B4-BE49-F238E27FC236}">
                <a16:creationId xmlns:a16="http://schemas.microsoft.com/office/drawing/2014/main" id="{7B98D5DB-337C-EA3C-581C-BCB635498814}"/>
              </a:ext>
            </a:extLst>
          </p:cNvPr>
          <p:cNvSpPr>
            <a:spLocks noGrp="1"/>
          </p:cNvSpPr>
          <p:nvPr>
            <p:ph type="sldNum" sz="quarter" idx="10"/>
          </p:nvPr>
        </p:nvSpPr>
        <p:spPr/>
        <p:txBody>
          <a:bodyPr/>
          <a:lstStyle/>
          <a:p>
            <a:fld id="{48F63A3B-78C7-47BE-AE5E-E10140E04643}" type="slidenum">
              <a:rPr lang="en-US" smtClean="0"/>
              <a:pPr/>
              <a:t>5</a:t>
            </a:fld>
            <a:endParaRPr lang="en-US" dirty="0"/>
          </a:p>
        </p:txBody>
      </p:sp>
    </p:spTree>
    <p:extLst>
      <p:ext uri="{BB962C8B-B14F-4D97-AF65-F5344CB8AC3E}">
        <p14:creationId xmlns:p14="http://schemas.microsoft.com/office/powerpoint/2010/main" val="3428711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849EC-55C7-312C-E017-CB996F654DE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DATASET OVERVIEW</a:t>
            </a:r>
          </a:p>
        </p:txBody>
      </p:sp>
      <p:sp>
        <p:nvSpPr>
          <p:cNvPr id="3" name="Content Placeholder 2">
            <a:extLst>
              <a:ext uri="{FF2B5EF4-FFF2-40B4-BE49-F238E27FC236}">
                <a16:creationId xmlns:a16="http://schemas.microsoft.com/office/drawing/2014/main" id="{FEF79803-FD96-4E78-0E37-C97E4E3A74AF}"/>
              </a:ext>
            </a:extLst>
          </p:cNvPr>
          <p:cNvSpPr>
            <a:spLocks noGrp="1"/>
          </p:cNvSpPr>
          <p:nvPr>
            <p:ph sz="half" idx="2"/>
          </p:nvPr>
        </p:nvSpPr>
        <p:spPr>
          <a:xfrm>
            <a:off x="3460565" y="2303029"/>
            <a:ext cx="7965460" cy="4097772"/>
          </a:xfrm>
        </p:spPr>
        <p:txBody>
          <a:bodyPr/>
          <a:lstStyle/>
          <a:p>
            <a:pPr marL="0" indent="0">
              <a:buNone/>
            </a:pPr>
            <a:r>
              <a:rPr lang="en-IN" sz="2000" dirty="0">
                <a:latin typeface="Times New Roman" panose="02020603050405020304" pitchFamily="18" charset="0"/>
                <a:cs typeface="Times New Roman" panose="02020603050405020304" pitchFamily="18" charset="0"/>
              </a:rPr>
              <a:t>The dataset contains bird observation records collected from multiple forest and grassland locations.</a:t>
            </a:r>
          </a:p>
          <a:p>
            <a:r>
              <a:rPr lang="en-IN" sz="2000" b="1" dirty="0">
                <a:latin typeface="Times New Roman" panose="02020603050405020304" pitchFamily="18" charset="0"/>
                <a:cs typeface="Times New Roman" panose="02020603050405020304" pitchFamily="18" charset="0"/>
              </a:rPr>
              <a:t>Key Attributes:</a:t>
            </a:r>
          </a:p>
          <a:p>
            <a:r>
              <a:rPr lang="en-IN" sz="2000" b="1" dirty="0">
                <a:latin typeface="Times New Roman" panose="02020603050405020304" pitchFamily="18" charset="0"/>
                <a:cs typeface="Times New Roman" panose="02020603050405020304" pitchFamily="18" charset="0"/>
              </a:rPr>
              <a:t>Species Information:</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Common_Name</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Scientific_Name</a:t>
            </a:r>
            <a:r>
              <a:rPr lang="en-IN" sz="2000" dirty="0">
                <a:latin typeface="Times New Roman" panose="02020603050405020304" pitchFamily="18" charset="0"/>
                <a:cs typeface="Times New Roman" panose="02020603050405020304" pitchFamily="18" charset="0"/>
              </a:rPr>
              <a:t> </a:t>
            </a:r>
          </a:p>
          <a:p>
            <a:r>
              <a:rPr lang="en-IN" sz="2000" b="1" dirty="0">
                <a:latin typeface="Times New Roman" panose="02020603050405020304" pitchFamily="18" charset="0"/>
                <a:cs typeface="Times New Roman" panose="02020603050405020304" pitchFamily="18" charset="0"/>
              </a:rPr>
              <a:t>Location Details:</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Admin_Unit_Code</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Site_Name</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Plot_Name</a:t>
            </a:r>
            <a:r>
              <a:rPr lang="en-IN" sz="2000" dirty="0">
                <a:latin typeface="Times New Roman" panose="02020603050405020304" pitchFamily="18" charset="0"/>
                <a:cs typeface="Times New Roman" panose="02020603050405020304" pitchFamily="18" charset="0"/>
              </a:rPr>
              <a:t> </a:t>
            </a:r>
          </a:p>
          <a:p>
            <a:r>
              <a:rPr lang="en-IN" sz="2000" b="1" dirty="0">
                <a:latin typeface="Times New Roman" panose="02020603050405020304" pitchFamily="18" charset="0"/>
                <a:cs typeface="Times New Roman" panose="02020603050405020304" pitchFamily="18" charset="0"/>
              </a:rPr>
              <a:t>Temporal Data:</a:t>
            </a:r>
            <a:r>
              <a:rPr lang="en-IN" sz="2000" dirty="0">
                <a:latin typeface="Times New Roman" panose="02020603050405020304" pitchFamily="18" charset="0"/>
                <a:cs typeface="Times New Roman" panose="02020603050405020304" pitchFamily="18" charset="0"/>
              </a:rPr>
              <a:t> Date, Year, </a:t>
            </a:r>
            <a:r>
              <a:rPr lang="en-IN" sz="2000" dirty="0" err="1">
                <a:latin typeface="Times New Roman" panose="02020603050405020304" pitchFamily="18" charset="0"/>
                <a:cs typeface="Times New Roman" panose="02020603050405020304" pitchFamily="18" charset="0"/>
              </a:rPr>
              <a:t>Start_Time</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End_Time</a:t>
            </a:r>
            <a:r>
              <a:rPr lang="en-IN" sz="2000" dirty="0">
                <a:latin typeface="Times New Roman" panose="02020603050405020304" pitchFamily="18" charset="0"/>
                <a:cs typeface="Times New Roman" panose="02020603050405020304" pitchFamily="18" charset="0"/>
              </a:rPr>
              <a:t> </a:t>
            </a:r>
          </a:p>
          <a:p>
            <a:r>
              <a:rPr lang="en-IN" sz="2000" b="1" dirty="0">
                <a:latin typeface="Times New Roman" panose="02020603050405020304" pitchFamily="18" charset="0"/>
                <a:cs typeface="Times New Roman" panose="02020603050405020304" pitchFamily="18" charset="0"/>
              </a:rPr>
              <a:t>Environmental Factors:</a:t>
            </a:r>
            <a:r>
              <a:rPr lang="en-IN" sz="2000" dirty="0">
                <a:latin typeface="Times New Roman" panose="02020603050405020304" pitchFamily="18" charset="0"/>
                <a:cs typeface="Times New Roman" panose="02020603050405020304" pitchFamily="18" charset="0"/>
              </a:rPr>
              <a:t> Temperature, Humidity, Sky, Wind </a:t>
            </a:r>
          </a:p>
          <a:p>
            <a:r>
              <a:rPr lang="en-IN" sz="2000" b="1" dirty="0" err="1">
                <a:latin typeface="Times New Roman" panose="02020603050405020304" pitchFamily="18" charset="0"/>
                <a:cs typeface="Times New Roman" panose="02020603050405020304" pitchFamily="18" charset="0"/>
              </a:rPr>
              <a:t>Behavioral</a:t>
            </a:r>
            <a:r>
              <a:rPr lang="en-IN" sz="2000" b="1" dirty="0">
                <a:latin typeface="Times New Roman" panose="02020603050405020304" pitchFamily="18" charset="0"/>
                <a:cs typeface="Times New Roman" panose="02020603050405020304" pitchFamily="18" charset="0"/>
              </a:rPr>
              <a:t> Data:</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Observation_Method</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ID_Method</a:t>
            </a:r>
            <a:r>
              <a:rPr lang="en-IN" sz="2000" dirty="0">
                <a:latin typeface="Times New Roman" panose="02020603050405020304" pitchFamily="18" charset="0"/>
                <a:cs typeface="Times New Roman" panose="02020603050405020304" pitchFamily="18" charset="0"/>
              </a:rPr>
              <a:t>), Distance, Flyover </a:t>
            </a:r>
          </a:p>
          <a:p>
            <a:r>
              <a:rPr lang="en-IN" sz="2000" b="1" dirty="0">
                <a:latin typeface="Times New Roman" panose="02020603050405020304" pitchFamily="18" charset="0"/>
                <a:cs typeface="Times New Roman" panose="02020603050405020304" pitchFamily="18" charset="0"/>
              </a:rPr>
              <a:t>Additional Information:</a:t>
            </a:r>
            <a:r>
              <a:rPr lang="en-IN" sz="2000" dirty="0">
                <a:latin typeface="Times New Roman" panose="02020603050405020304" pitchFamily="18" charset="0"/>
                <a:cs typeface="Times New Roman" panose="02020603050405020304" pitchFamily="18" charset="0"/>
              </a:rPr>
              <a:t> Sex, Observer, Visit</a:t>
            </a:r>
          </a:p>
          <a:p>
            <a:endParaRPr lang="en-IN" dirty="0"/>
          </a:p>
        </p:txBody>
      </p:sp>
      <p:sp>
        <p:nvSpPr>
          <p:cNvPr id="4" name="Slide Number Placeholder 3">
            <a:extLst>
              <a:ext uri="{FF2B5EF4-FFF2-40B4-BE49-F238E27FC236}">
                <a16:creationId xmlns:a16="http://schemas.microsoft.com/office/drawing/2014/main" id="{45CBC5E3-5ABD-7D33-D40C-8DF8C1F65AC4}"/>
              </a:ext>
            </a:extLst>
          </p:cNvPr>
          <p:cNvSpPr>
            <a:spLocks noGrp="1"/>
          </p:cNvSpPr>
          <p:nvPr>
            <p:ph type="sldNum" sz="quarter" idx="10"/>
          </p:nvPr>
        </p:nvSpPr>
        <p:spPr/>
        <p:txBody>
          <a:bodyPr/>
          <a:lstStyle/>
          <a:p>
            <a:fld id="{48F63A3B-78C7-47BE-AE5E-E10140E04643}" type="slidenum">
              <a:rPr lang="en-US" smtClean="0"/>
              <a:pPr/>
              <a:t>6</a:t>
            </a:fld>
            <a:endParaRPr lang="en-US" dirty="0"/>
          </a:p>
        </p:txBody>
      </p:sp>
    </p:spTree>
    <p:extLst>
      <p:ext uri="{BB962C8B-B14F-4D97-AF65-F5344CB8AC3E}">
        <p14:creationId xmlns:p14="http://schemas.microsoft.com/office/powerpoint/2010/main" val="3564664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51BF-5828-7723-FC38-E185702657C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DATA PREPARATION &amp; CLEANING</a:t>
            </a:r>
          </a:p>
        </p:txBody>
      </p:sp>
      <p:sp>
        <p:nvSpPr>
          <p:cNvPr id="3" name="Content Placeholder 2">
            <a:extLst>
              <a:ext uri="{FF2B5EF4-FFF2-40B4-BE49-F238E27FC236}">
                <a16:creationId xmlns:a16="http://schemas.microsoft.com/office/drawing/2014/main" id="{3E174978-9724-3EE7-2931-B0B7AE02D1EB}"/>
              </a:ext>
            </a:extLst>
          </p:cNvPr>
          <p:cNvSpPr>
            <a:spLocks noGrp="1"/>
          </p:cNvSpPr>
          <p:nvPr>
            <p:ph sz="half" idx="2"/>
          </p:nvPr>
        </p:nvSpPr>
        <p:spPr/>
        <p:txBody>
          <a:bodyPr/>
          <a:lstStyle/>
          <a:p>
            <a:pPr marL="0" indent="0" algn="just">
              <a:buNone/>
            </a:pPr>
            <a:r>
              <a:rPr lang="en-US" sz="2400" dirty="0">
                <a:latin typeface="Times New Roman" panose="02020603050405020304" pitchFamily="18" charset="0"/>
                <a:cs typeface="Times New Roman" panose="02020603050405020304" pitchFamily="18" charset="0"/>
              </a:rPr>
              <a:t>Before analysis, the data was cleaned and processed:</a:t>
            </a:r>
          </a:p>
          <a:p>
            <a:pPr algn="just"/>
            <a:r>
              <a:rPr lang="en-US" sz="2400" dirty="0">
                <a:latin typeface="Times New Roman" panose="02020603050405020304" pitchFamily="18" charset="0"/>
                <a:cs typeface="Times New Roman" panose="02020603050405020304" pitchFamily="18" charset="0"/>
              </a:rPr>
              <a:t>Removed duplicate records to avoid incorrect counts </a:t>
            </a:r>
          </a:p>
          <a:p>
            <a:pPr algn="just"/>
            <a:r>
              <a:rPr lang="en-US" sz="2400" dirty="0">
                <a:latin typeface="Times New Roman" panose="02020603050405020304" pitchFamily="18" charset="0"/>
                <a:cs typeface="Times New Roman" panose="02020603050405020304" pitchFamily="18" charset="0"/>
              </a:rPr>
              <a:t>Handled missing values using appropriate techniques </a:t>
            </a:r>
          </a:p>
          <a:p>
            <a:pPr algn="just"/>
            <a:r>
              <a:rPr lang="en-US" sz="2400" dirty="0">
                <a:latin typeface="Times New Roman" panose="02020603050405020304" pitchFamily="18" charset="0"/>
                <a:cs typeface="Times New Roman" panose="02020603050405020304" pitchFamily="18" charset="0"/>
              </a:rPr>
              <a:t>Converted columns (Date, Temperature, Humidity) into proper formats </a:t>
            </a:r>
          </a:p>
          <a:p>
            <a:pPr algn="just"/>
            <a:r>
              <a:rPr lang="en-US" sz="2400" dirty="0">
                <a:latin typeface="Times New Roman" panose="02020603050405020304" pitchFamily="18" charset="0"/>
                <a:cs typeface="Times New Roman" panose="02020603050405020304" pitchFamily="18" charset="0"/>
              </a:rPr>
              <a:t>Standardized text columns for consistency </a:t>
            </a:r>
          </a:p>
          <a:p>
            <a:pPr algn="just"/>
            <a:r>
              <a:rPr lang="en-US" sz="2400" dirty="0">
                <a:latin typeface="Times New Roman" panose="02020603050405020304" pitchFamily="18" charset="0"/>
                <a:cs typeface="Times New Roman" panose="02020603050405020304" pitchFamily="18" charset="0"/>
              </a:rPr>
              <a:t>Combined multiple sheets into a single dataset</a:t>
            </a:r>
          </a:p>
          <a:p>
            <a:endParaRPr lang="en-IN" dirty="0"/>
          </a:p>
        </p:txBody>
      </p:sp>
      <p:sp>
        <p:nvSpPr>
          <p:cNvPr id="4" name="Slide Number Placeholder 3">
            <a:extLst>
              <a:ext uri="{FF2B5EF4-FFF2-40B4-BE49-F238E27FC236}">
                <a16:creationId xmlns:a16="http://schemas.microsoft.com/office/drawing/2014/main" id="{02297031-1D20-D63C-64E3-AE2F0AC7E764}"/>
              </a:ext>
            </a:extLst>
          </p:cNvPr>
          <p:cNvSpPr>
            <a:spLocks noGrp="1"/>
          </p:cNvSpPr>
          <p:nvPr>
            <p:ph type="sldNum" sz="quarter" idx="10"/>
          </p:nvPr>
        </p:nvSpPr>
        <p:spPr/>
        <p:txBody>
          <a:bodyPr/>
          <a:lstStyle/>
          <a:p>
            <a:fld id="{48F63A3B-78C7-47BE-AE5E-E10140E04643}" type="slidenum">
              <a:rPr lang="en-US" smtClean="0"/>
              <a:pPr/>
              <a:t>7</a:t>
            </a:fld>
            <a:endParaRPr lang="en-US" dirty="0"/>
          </a:p>
        </p:txBody>
      </p:sp>
    </p:spTree>
    <p:extLst>
      <p:ext uri="{BB962C8B-B14F-4D97-AF65-F5344CB8AC3E}">
        <p14:creationId xmlns:p14="http://schemas.microsoft.com/office/powerpoint/2010/main" val="1745869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DE78B-B1DD-3FB1-1D95-1D64842CFDC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ANALYSIS PERFORMED</a:t>
            </a:r>
          </a:p>
        </p:txBody>
      </p:sp>
      <p:sp>
        <p:nvSpPr>
          <p:cNvPr id="3" name="Content Placeholder 2">
            <a:extLst>
              <a:ext uri="{FF2B5EF4-FFF2-40B4-BE49-F238E27FC236}">
                <a16:creationId xmlns:a16="http://schemas.microsoft.com/office/drawing/2014/main" id="{993DBEAF-473D-F070-63B1-4F46DF1FFDEF}"/>
              </a:ext>
            </a:extLst>
          </p:cNvPr>
          <p:cNvSpPr>
            <a:spLocks noGrp="1"/>
          </p:cNvSpPr>
          <p:nvPr>
            <p:ph sz="half" idx="2"/>
          </p:nvPr>
        </p:nvSpPr>
        <p:spPr/>
        <p:txBody>
          <a:bodyPr/>
          <a:lstStyle/>
          <a:p>
            <a:pPr marL="0" indent="0" algn="just">
              <a:buNone/>
            </a:pPr>
            <a:r>
              <a:rPr lang="en-US" sz="2400" dirty="0">
                <a:latin typeface="Times New Roman" panose="02020603050405020304" pitchFamily="18" charset="0"/>
                <a:cs typeface="Times New Roman" panose="02020603050405020304" pitchFamily="18" charset="0"/>
              </a:rPr>
              <a:t>The performance analysis evaluates how bird species observations vary across different habitats, environmental conditions, locations, and time periods. It helps measure biodiversity richness, observation efficiency, and environmental influence on bird activity.</a:t>
            </a:r>
          </a:p>
          <a:p>
            <a:endParaRPr lang="en-IN" dirty="0"/>
          </a:p>
        </p:txBody>
      </p:sp>
      <p:sp>
        <p:nvSpPr>
          <p:cNvPr id="4" name="Slide Number Placeholder 3">
            <a:extLst>
              <a:ext uri="{FF2B5EF4-FFF2-40B4-BE49-F238E27FC236}">
                <a16:creationId xmlns:a16="http://schemas.microsoft.com/office/drawing/2014/main" id="{72509FAE-4CB9-6669-5869-0E075FC6A82B}"/>
              </a:ext>
            </a:extLst>
          </p:cNvPr>
          <p:cNvSpPr>
            <a:spLocks noGrp="1"/>
          </p:cNvSpPr>
          <p:nvPr>
            <p:ph type="sldNum" sz="quarter" idx="10"/>
          </p:nvPr>
        </p:nvSpPr>
        <p:spPr/>
        <p:txBody>
          <a:bodyPr/>
          <a:lstStyle/>
          <a:p>
            <a:fld id="{48F63A3B-78C7-47BE-AE5E-E10140E04643}" type="slidenum">
              <a:rPr lang="en-US" smtClean="0"/>
              <a:pPr/>
              <a:t>8</a:t>
            </a:fld>
            <a:endParaRPr lang="en-US" dirty="0"/>
          </a:p>
        </p:txBody>
      </p:sp>
    </p:spTree>
    <p:extLst>
      <p:ext uri="{BB962C8B-B14F-4D97-AF65-F5344CB8AC3E}">
        <p14:creationId xmlns:p14="http://schemas.microsoft.com/office/powerpoint/2010/main" val="1793035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C2D15-BCB1-970C-0DB7-61C9DC547722}"/>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Habitat Performance Analysis</a:t>
            </a:r>
          </a:p>
        </p:txBody>
      </p:sp>
      <p:sp>
        <p:nvSpPr>
          <p:cNvPr id="3" name="Content Placeholder 2">
            <a:extLst>
              <a:ext uri="{FF2B5EF4-FFF2-40B4-BE49-F238E27FC236}">
                <a16:creationId xmlns:a16="http://schemas.microsoft.com/office/drawing/2014/main" id="{B924D6E3-D5B4-B28C-2EEB-409888541E89}"/>
              </a:ext>
            </a:extLst>
          </p:cNvPr>
          <p:cNvSpPr>
            <a:spLocks noGrp="1"/>
          </p:cNvSpPr>
          <p:nvPr>
            <p:ph sz="half" idx="2"/>
          </p:nvPr>
        </p:nvSpPr>
        <p:spPr>
          <a:xfrm>
            <a:off x="3460565" y="2303028"/>
            <a:ext cx="7965460" cy="4245255"/>
          </a:xfrm>
        </p:spPr>
        <p:txBody>
          <a:bodyPr>
            <a:normAutofit/>
          </a:bodyPr>
          <a:lstStyle/>
          <a:p>
            <a:pPr marL="0" indent="0">
              <a:buNone/>
            </a:pPr>
            <a:r>
              <a:rPr lang="en-US" sz="2000" dirty="0"/>
              <a:t>The comparison between forest and grassland habitats shows clear differences in biodiversity and observation counts.</a:t>
            </a:r>
          </a:p>
          <a:p>
            <a:pPr marL="0" indent="0">
              <a:buNone/>
            </a:pPr>
            <a:r>
              <a:rPr lang="en-US" sz="2000" b="1" dirty="0"/>
              <a:t>Forest habitats</a:t>
            </a:r>
            <a:r>
              <a:rPr lang="en-US" sz="2000" dirty="0"/>
              <a:t> demonstrate higher performance in terms of: </a:t>
            </a:r>
          </a:p>
          <a:p>
            <a:pPr lvl="1"/>
            <a:r>
              <a:rPr lang="en-US" sz="2000" dirty="0"/>
              <a:t>Total observations </a:t>
            </a:r>
          </a:p>
          <a:p>
            <a:pPr lvl="1"/>
            <a:r>
              <a:rPr lang="en-US" sz="2000" dirty="0"/>
              <a:t>Species diversity </a:t>
            </a:r>
          </a:p>
          <a:p>
            <a:pPr lvl="1"/>
            <a:r>
              <a:rPr lang="en-US" sz="2000" dirty="0"/>
              <a:t>Environmental suitability </a:t>
            </a:r>
          </a:p>
          <a:p>
            <a:pPr marL="0" indent="0">
              <a:buNone/>
            </a:pPr>
            <a:r>
              <a:rPr lang="en-US" sz="2000" b="1" dirty="0"/>
              <a:t>Grassland habitats</a:t>
            </a:r>
            <a:r>
              <a:rPr lang="en-US" sz="2000" dirty="0"/>
              <a:t> show: </a:t>
            </a:r>
          </a:p>
          <a:p>
            <a:pPr lvl="1"/>
            <a:r>
              <a:rPr lang="en-US" sz="2000" dirty="0"/>
              <a:t>Lower observation counts </a:t>
            </a:r>
          </a:p>
          <a:p>
            <a:pPr lvl="1"/>
            <a:r>
              <a:rPr lang="en-US" sz="2000" dirty="0"/>
              <a:t>Fewer species </a:t>
            </a:r>
          </a:p>
          <a:p>
            <a:pPr lvl="1"/>
            <a:r>
              <a:rPr lang="en-US" sz="2000" dirty="0"/>
              <a:t>Presence of specialized species adapted to open areas</a:t>
            </a:r>
          </a:p>
          <a:p>
            <a:endParaRPr lang="en-IN" dirty="0"/>
          </a:p>
        </p:txBody>
      </p:sp>
      <p:sp>
        <p:nvSpPr>
          <p:cNvPr id="4" name="Slide Number Placeholder 3">
            <a:extLst>
              <a:ext uri="{FF2B5EF4-FFF2-40B4-BE49-F238E27FC236}">
                <a16:creationId xmlns:a16="http://schemas.microsoft.com/office/drawing/2014/main" id="{EF357F99-D658-5FEE-788F-AC6F06ABD263}"/>
              </a:ext>
            </a:extLst>
          </p:cNvPr>
          <p:cNvSpPr>
            <a:spLocks noGrp="1"/>
          </p:cNvSpPr>
          <p:nvPr>
            <p:ph type="sldNum" sz="quarter" idx="10"/>
          </p:nvPr>
        </p:nvSpPr>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3266690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6B46E-C9C0-7990-5F5B-378C82D2D4F3}"/>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Species Performance Analysis</a:t>
            </a:r>
          </a:p>
        </p:txBody>
      </p:sp>
      <p:sp>
        <p:nvSpPr>
          <p:cNvPr id="3" name="Content Placeholder 2">
            <a:extLst>
              <a:ext uri="{FF2B5EF4-FFF2-40B4-BE49-F238E27FC236}">
                <a16:creationId xmlns:a16="http://schemas.microsoft.com/office/drawing/2014/main" id="{E2AB1E58-3C6E-4F3E-6D88-188D401A602F}"/>
              </a:ext>
            </a:extLst>
          </p:cNvPr>
          <p:cNvSpPr>
            <a:spLocks noGrp="1"/>
          </p:cNvSpPr>
          <p:nvPr>
            <p:ph sz="half" idx="2"/>
          </p:nvPr>
        </p:nvSpPr>
        <p:spPr>
          <a:xfrm>
            <a:off x="3460565" y="2303029"/>
            <a:ext cx="7965460" cy="38323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Species performance is evaluated based on frequency of observations.</a:t>
            </a:r>
          </a:p>
          <a:p>
            <a:pPr marL="0" indent="0">
              <a:buNone/>
            </a:pPr>
            <a:r>
              <a:rPr lang="en-US" sz="2400" dirty="0">
                <a:latin typeface="Times New Roman" panose="02020603050405020304" pitchFamily="18" charset="0"/>
                <a:cs typeface="Times New Roman" panose="02020603050405020304" pitchFamily="18" charset="0"/>
              </a:rPr>
              <a:t>Certain species appear </a:t>
            </a:r>
            <a:r>
              <a:rPr lang="en-US" sz="2400" b="1" dirty="0">
                <a:latin typeface="Times New Roman" panose="02020603050405020304" pitchFamily="18" charset="0"/>
                <a:cs typeface="Times New Roman" panose="02020603050405020304" pitchFamily="18" charset="0"/>
              </a:rPr>
              <a:t>more frequently</a:t>
            </a:r>
            <a:r>
              <a:rPr lang="en-US" sz="2400" dirty="0">
                <a:latin typeface="Times New Roman" panose="02020603050405020304" pitchFamily="18" charset="0"/>
                <a:cs typeface="Times New Roman" panose="02020603050405020304" pitchFamily="18" charset="0"/>
              </a:rPr>
              <a:t>, indicating: </a:t>
            </a:r>
          </a:p>
          <a:p>
            <a:pPr lvl="1"/>
            <a:r>
              <a:rPr lang="en-US" sz="2400" dirty="0">
                <a:latin typeface="Times New Roman" panose="02020603050405020304" pitchFamily="18" charset="0"/>
                <a:cs typeface="Times New Roman" panose="02020603050405020304" pitchFamily="18" charset="0"/>
              </a:rPr>
              <a:t>High adaptability </a:t>
            </a:r>
          </a:p>
          <a:p>
            <a:pPr lvl="1"/>
            <a:r>
              <a:rPr lang="en-US" sz="2400" dirty="0">
                <a:latin typeface="Times New Roman" panose="02020603050405020304" pitchFamily="18" charset="0"/>
                <a:cs typeface="Times New Roman" panose="02020603050405020304" pitchFamily="18" charset="0"/>
              </a:rPr>
              <a:t>Strong habitat preference </a:t>
            </a:r>
          </a:p>
          <a:p>
            <a:pPr marL="0" indent="0">
              <a:buNone/>
            </a:pPr>
            <a:r>
              <a:rPr lang="en-US" sz="2400" dirty="0">
                <a:latin typeface="Times New Roman" panose="02020603050405020304" pitchFamily="18" charset="0"/>
                <a:cs typeface="Times New Roman" panose="02020603050405020304" pitchFamily="18" charset="0"/>
              </a:rPr>
              <a:t>Some species are </a:t>
            </a:r>
            <a:r>
              <a:rPr lang="en-US" sz="2400" b="1" dirty="0">
                <a:latin typeface="Times New Roman" panose="02020603050405020304" pitchFamily="18" charset="0"/>
                <a:cs typeface="Times New Roman" panose="02020603050405020304" pitchFamily="18" charset="0"/>
              </a:rPr>
              <a:t>rare or less observed</a:t>
            </a:r>
            <a:r>
              <a:rPr lang="en-US" sz="2400" dirty="0">
                <a:latin typeface="Times New Roman" panose="02020603050405020304" pitchFamily="18" charset="0"/>
                <a:cs typeface="Times New Roman" panose="02020603050405020304" pitchFamily="18" charset="0"/>
              </a:rPr>
              <a:t>, which may indicate: </a:t>
            </a:r>
          </a:p>
          <a:p>
            <a:pPr lvl="1"/>
            <a:r>
              <a:rPr lang="en-US" sz="2400" dirty="0">
                <a:latin typeface="Times New Roman" panose="02020603050405020304" pitchFamily="18" charset="0"/>
                <a:cs typeface="Times New Roman" panose="02020603050405020304" pitchFamily="18" charset="0"/>
              </a:rPr>
              <a:t>Limited population </a:t>
            </a:r>
          </a:p>
          <a:p>
            <a:pPr lvl="1"/>
            <a:r>
              <a:rPr lang="en-US" sz="2400" dirty="0">
                <a:latin typeface="Times New Roman" panose="02020603050405020304" pitchFamily="18" charset="0"/>
                <a:cs typeface="Times New Roman" panose="02020603050405020304" pitchFamily="18" charset="0"/>
              </a:rPr>
              <a:t>Specific habitat requirements</a:t>
            </a:r>
          </a:p>
          <a:p>
            <a:endParaRPr lang="en-IN" dirty="0"/>
          </a:p>
        </p:txBody>
      </p:sp>
      <p:sp>
        <p:nvSpPr>
          <p:cNvPr id="4" name="Slide Number Placeholder 3">
            <a:extLst>
              <a:ext uri="{FF2B5EF4-FFF2-40B4-BE49-F238E27FC236}">
                <a16:creationId xmlns:a16="http://schemas.microsoft.com/office/drawing/2014/main" id="{230BD806-878B-EE56-2B58-2613EF9635A5}"/>
              </a:ext>
            </a:extLst>
          </p:cNvPr>
          <p:cNvSpPr>
            <a:spLocks noGrp="1"/>
          </p:cNvSpPr>
          <p:nvPr>
            <p:ph type="sldNum" sz="quarter" idx="10"/>
          </p:nvPr>
        </p:nvSpPr>
        <p:spPr/>
        <p:txBody>
          <a:bodyPr/>
          <a:lstStyle/>
          <a:p>
            <a:fld id="{48F63A3B-78C7-47BE-AE5E-E10140E04643}" type="slidenum">
              <a:rPr lang="en-US" smtClean="0"/>
              <a:pPr/>
              <a:t>10</a:t>
            </a:fld>
            <a:endParaRPr lang="en-US" dirty="0"/>
          </a:p>
        </p:txBody>
      </p:sp>
    </p:spTree>
    <p:extLst>
      <p:ext uri="{BB962C8B-B14F-4D97-AF65-F5344CB8AC3E}">
        <p14:creationId xmlns:p14="http://schemas.microsoft.com/office/powerpoint/2010/main" val="1722086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225C7-79F0-ECDB-E80E-14D647FBA0FB}"/>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Location Performance Analysis</a:t>
            </a:r>
          </a:p>
        </p:txBody>
      </p:sp>
      <p:sp>
        <p:nvSpPr>
          <p:cNvPr id="3" name="Content Placeholder 2">
            <a:extLst>
              <a:ext uri="{FF2B5EF4-FFF2-40B4-BE49-F238E27FC236}">
                <a16:creationId xmlns:a16="http://schemas.microsoft.com/office/drawing/2014/main" id="{BFF7C805-3980-2F59-27E8-6941A4881E47}"/>
              </a:ext>
            </a:extLst>
          </p:cNvPr>
          <p:cNvSpPr>
            <a:spLocks noGrp="1"/>
          </p:cNvSpPr>
          <p:nvPr>
            <p:ph sz="half" idx="2"/>
          </p:nvPr>
        </p:nvSpPr>
        <p:spPr>
          <a:xfrm>
            <a:off x="3460565" y="2303029"/>
            <a:ext cx="7965460" cy="3665152"/>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Different observation sites show varying levels of bird activity.</a:t>
            </a:r>
          </a:p>
          <a:p>
            <a:pPr marL="0" indent="0">
              <a:buNone/>
            </a:pPr>
            <a:r>
              <a:rPr lang="en-US" sz="2400" b="1" dirty="0">
                <a:latin typeface="Times New Roman" panose="02020603050405020304" pitchFamily="18" charset="0"/>
                <a:cs typeface="Times New Roman" panose="02020603050405020304" pitchFamily="18" charset="0"/>
              </a:rPr>
              <a:t>High-performing locations</a:t>
            </a:r>
            <a:r>
              <a:rPr lang="en-US" sz="2400" dirty="0">
                <a:latin typeface="Times New Roman" panose="02020603050405020304" pitchFamily="18" charset="0"/>
                <a:cs typeface="Times New Roman" panose="02020603050405020304" pitchFamily="18" charset="0"/>
              </a:rPr>
              <a:t>: </a:t>
            </a:r>
          </a:p>
          <a:p>
            <a:pPr lvl="1"/>
            <a:r>
              <a:rPr lang="en-US" sz="2400" dirty="0">
                <a:latin typeface="Times New Roman" panose="02020603050405020304" pitchFamily="18" charset="0"/>
                <a:cs typeface="Times New Roman" panose="02020603050405020304" pitchFamily="18" charset="0"/>
              </a:rPr>
              <a:t>Large number of observations </a:t>
            </a:r>
          </a:p>
          <a:p>
            <a:pPr lvl="1"/>
            <a:r>
              <a:rPr lang="en-US" sz="2400" dirty="0">
                <a:latin typeface="Times New Roman" panose="02020603050405020304" pitchFamily="18" charset="0"/>
                <a:cs typeface="Times New Roman" panose="02020603050405020304" pitchFamily="18" charset="0"/>
              </a:rPr>
              <a:t>High species diversity </a:t>
            </a:r>
          </a:p>
          <a:p>
            <a:pPr marL="0" indent="0">
              <a:buNone/>
            </a:pPr>
            <a:r>
              <a:rPr lang="en-US" sz="2400" b="1" dirty="0">
                <a:latin typeface="Times New Roman" panose="02020603050405020304" pitchFamily="18" charset="0"/>
                <a:cs typeface="Times New Roman" panose="02020603050405020304" pitchFamily="18" charset="0"/>
              </a:rPr>
              <a:t>Low-performing locations</a:t>
            </a:r>
            <a:r>
              <a:rPr lang="en-US" sz="2400" dirty="0">
                <a:latin typeface="Times New Roman" panose="02020603050405020304" pitchFamily="18" charset="0"/>
                <a:cs typeface="Times New Roman" panose="02020603050405020304" pitchFamily="18" charset="0"/>
              </a:rPr>
              <a:t>: </a:t>
            </a:r>
          </a:p>
          <a:p>
            <a:pPr lvl="1"/>
            <a:r>
              <a:rPr lang="en-US" sz="2400" dirty="0">
                <a:latin typeface="Times New Roman" panose="02020603050405020304" pitchFamily="18" charset="0"/>
                <a:cs typeface="Times New Roman" panose="02020603050405020304" pitchFamily="18" charset="0"/>
              </a:rPr>
              <a:t>Fewer observations </a:t>
            </a:r>
          </a:p>
          <a:p>
            <a:pPr lvl="1"/>
            <a:r>
              <a:rPr lang="en-US" sz="2400" dirty="0">
                <a:latin typeface="Times New Roman" panose="02020603050405020304" pitchFamily="18" charset="0"/>
                <a:cs typeface="Times New Roman" panose="02020603050405020304" pitchFamily="18" charset="0"/>
              </a:rPr>
              <a:t>Limited species presence</a:t>
            </a:r>
          </a:p>
          <a:p>
            <a:endParaRPr lang="en-IN" dirty="0"/>
          </a:p>
        </p:txBody>
      </p:sp>
      <p:sp>
        <p:nvSpPr>
          <p:cNvPr id="4" name="Slide Number Placeholder 3">
            <a:extLst>
              <a:ext uri="{FF2B5EF4-FFF2-40B4-BE49-F238E27FC236}">
                <a16:creationId xmlns:a16="http://schemas.microsoft.com/office/drawing/2014/main" id="{A7107581-247A-38D4-9728-391481C182C3}"/>
              </a:ext>
            </a:extLst>
          </p:cNvPr>
          <p:cNvSpPr>
            <a:spLocks noGrp="1"/>
          </p:cNvSpPr>
          <p:nvPr>
            <p:ph type="sldNum" sz="quarter" idx="10"/>
          </p:nvPr>
        </p:nvSpPr>
        <p:spPr/>
        <p:txBody>
          <a:bodyPr/>
          <a:lstStyle/>
          <a:p>
            <a:fld id="{48F63A3B-78C7-47BE-AE5E-E10140E04643}" type="slidenum">
              <a:rPr lang="en-US" smtClean="0"/>
              <a:pPr/>
              <a:t>11</a:t>
            </a:fld>
            <a:endParaRPr lang="en-US" dirty="0"/>
          </a:p>
        </p:txBody>
      </p:sp>
    </p:spTree>
    <p:extLst>
      <p:ext uri="{BB962C8B-B14F-4D97-AF65-F5344CB8AC3E}">
        <p14:creationId xmlns:p14="http://schemas.microsoft.com/office/powerpoint/2010/main" val="27012687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311DB-D6B3-162F-573A-9426D9A35279}"/>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Environmental Performance Analysis</a:t>
            </a:r>
          </a:p>
        </p:txBody>
      </p:sp>
      <p:sp>
        <p:nvSpPr>
          <p:cNvPr id="3" name="Content Placeholder 2">
            <a:extLst>
              <a:ext uri="{FF2B5EF4-FFF2-40B4-BE49-F238E27FC236}">
                <a16:creationId xmlns:a16="http://schemas.microsoft.com/office/drawing/2014/main" id="{05FD5FB6-BDB9-2B62-2A04-19EDBEB49441}"/>
              </a:ext>
            </a:extLst>
          </p:cNvPr>
          <p:cNvSpPr>
            <a:spLocks noGrp="1"/>
          </p:cNvSpPr>
          <p:nvPr>
            <p:ph sz="half" idx="2"/>
          </p:nvPr>
        </p:nvSpPr>
        <p:spPr>
          <a:xfrm>
            <a:off x="3460565" y="2303029"/>
            <a:ext cx="7965460" cy="4097772"/>
          </a:xfrm>
        </p:spPr>
        <p:txBody>
          <a:bodyPr/>
          <a:lstStyle/>
          <a:p>
            <a:pPr marL="0" indent="0">
              <a:buNone/>
            </a:pPr>
            <a:r>
              <a:rPr lang="en-US" sz="2000" dirty="0">
                <a:latin typeface="Times New Roman" panose="02020603050405020304" pitchFamily="18" charset="0"/>
                <a:cs typeface="Times New Roman" panose="02020603050405020304" pitchFamily="18" charset="0"/>
              </a:rPr>
              <a:t>Environmental factors significantly influence bird observations.</a:t>
            </a:r>
          </a:p>
          <a:p>
            <a:pPr marL="0" indent="0">
              <a:buNone/>
            </a:pPr>
            <a:r>
              <a:rPr lang="en-US" sz="2000" b="1" dirty="0">
                <a:latin typeface="Times New Roman" panose="02020603050405020304" pitchFamily="18" charset="0"/>
                <a:cs typeface="Times New Roman" panose="02020603050405020304" pitchFamily="18" charset="0"/>
              </a:rPr>
              <a:t>Temperature</a:t>
            </a:r>
            <a:r>
              <a:rPr lang="en-US" sz="2000" dirty="0">
                <a:latin typeface="Times New Roman" panose="02020603050405020304" pitchFamily="18" charset="0"/>
                <a:cs typeface="Times New Roman" panose="02020603050405020304" pitchFamily="18" charset="0"/>
              </a:rPr>
              <a:t>: </a:t>
            </a:r>
          </a:p>
          <a:p>
            <a:pPr lvl="1"/>
            <a:r>
              <a:rPr lang="en-US" sz="2000" dirty="0">
                <a:latin typeface="Times New Roman" panose="02020603050405020304" pitchFamily="18" charset="0"/>
                <a:cs typeface="Times New Roman" panose="02020603050405020304" pitchFamily="18" charset="0"/>
              </a:rPr>
              <a:t>Optimal range (20–30°C) shows highest activity </a:t>
            </a:r>
          </a:p>
          <a:p>
            <a:pPr marL="0" indent="0">
              <a:buNone/>
            </a:pPr>
            <a:r>
              <a:rPr lang="en-US" sz="2000" b="1" dirty="0">
                <a:latin typeface="Times New Roman" panose="02020603050405020304" pitchFamily="18" charset="0"/>
                <a:cs typeface="Times New Roman" panose="02020603050405020304" pitchFamily="18" charset="0"/>
              </a:rPr>
              <a:t>Humidity</a:t>
            </a:r>
            <a:r>
              <a:rPr lang="en-US" sz="2000" dirty="0">
                <a:latin typeface="Times New Roman" panose="02020603050405020304" pitchFamily="18" charset="0"/>
                <a:cs typeface="Times New Roman" panose="02020603050405020304" pitchFamily="18" charset="0"/>
              </a:rPr>
              <a:t>: </a:t>
            </a:r>
          </a:p>
          <a:p>
            <a:pPr lvl="1"/>
            <a:r>
              <a:rPr lang="en-US" sz="2000" dirty="0">
                <a:latin typeface="Times New Roman" panose="02020603050405020304" pitchFamily="18" charset="0"/>
                <a:cs typeface="Times New Roman" panose="02020603050405020304" pitchFamily="18" charset="0"/>
              </a:rPr>
              <a:t>Moderate to high humidity supports bird presence </a:t>
            </a:r>
          </a:p>
          <a:p>
            <a:pPr marL="0" indent="0">
              <a:buNone/>
            </a:pPr>
            <a:r>
              <a:rPr lang="en-US" sz="2000" b="1" dirty="0">
                <a:latin typeface="Times New Roman" panose="02020603050405020304" pitchFamily="18" charset="0"/>
                <a:cs typeface="Times New Roman" panose="02020603050405020304" pitchFamily="18" charset="0"/>
              </a:rPr>
              <a:t>Wind</a:t>
            </a:r>
            <a:r>
              <a:rPr lang="en-US" sz="2000" dirty="0">
                <a:latin typeface="Times New Roman" panose="02020603050405020304" pitchFamily="18" charset="0"/>
                <a:cs typeface="Times New Roman" panose="02020603050405020304" pitchFamily="18" charset="0"/>
              </a:rPr>
              <a:t>: </a:t>
            </a:r>
          </a:p>
          <a:p>
            <a:pPr lvl="1"/>
            <a:r>
              <a:rPr lang="en-US" sz="2000" dirty="0">
                <a:latin typeface="Times New Roman" panose="02020603050405020304" pitchFamily="18" charset="0"/>
                <a:cs typeface="Times New Roman" panose="02020603050405020304" pitchFamily="18" charset="0"/>
              </a:rPr>
              <a:t>Calm conditions increase visibility and detection </a:t>
            </a:r>
          </a:p>
          <a:p>
            <a:pPr marL="0" indent="0">
              <a:buNone/>
            </a:pPr>
            <a:r>
              <a:rPr lang="en-US" sz="2000" b="1" dirty="0">
                <a:latin typeface="Times New Roman" panose="02020603050405020304" pitchFamily="18" charset="0"/>
                <a:cs typeface="Times New Roman" panose="02020603050405020304" pitchFamily="18" charset="0"/>
              </a:rPr>
              <a:t>Sky conditions</a:t>
            </a:r>
            <a:r>
              <a:rPr lang="en-US" sz="2000" dirty="0">
                <a:latin typeface="Times New Roman" panose="02020603050405020304" pitchFamily="18" charset="0"/>
                <a:cs typeface="Times New Roman" panose="02020603050405020304" pitchFamily="18" charset="0"/>
              </a:rPr>
              <a:t>: </a:t>
            </a:r>
          </a:p>
          <a:p>
            <a:pPr lvl="1"/>
            <a:r>
              <a:rPr lang="en-US" sz="2000" dirty="0">
                <a:latin typeface="Times New Roman" panose="02020603050405020304" pitchFamily="18" charset="0"/>
                <a:cs typeface="Times New Roman" panose="02020603050405020304" pitchFamily="18" charset="0"/>
              </a:rPr>
              <a:t>Clear or slightly cloudy skies lead to more observations </a:t>
            </a:r>
          </a:p>
          <a:p>
            <a:endParaRPr lang="en-IN" dirty="0"/>
          </a:p>
        </p:txBody>
      </p:sp>
      <p:sp>
        <p:nvSpPr>
          <p:cNvPr id="4" name="Slide Number Placeholder 3">
            <a:extLst>
              <a:ext uri="{FF2B5EF4-FFF2-40B4-BE49-F238E27FC236}">
                <a16:creationId xmlns:a16="http://schemas.microsoft.com/office/drawing/2014/main" id="{21F24E62-6949-0D71-CA9E-5C474979A764}"/>
              </a:ext>
            </a:extLst>
          </p:cNvPr>
          <p:cNvSpPr>
            <a:spLocks noGrp="1"/>
          </p:cNvSpPr>
          <p:nvPr>
            <p:ph type="sldNum" sz="quarter" idx="10"/>
          </p:nvPr>
        </p:nvSpPr>
        <p:spPr/>
        <p:txBody>
          <a:bodyPr/>
          <a:lstStyle/>
          <a:p>
            <a:fld id="{48F63A3B-78C7-47BE-AE5E-E10140E04643}" type="slidenum">
              <a:rPr lang="en-US" smtClean="0"/>
              <a:pPr/>
              <a:t>12</a:t>
            </a:fld>
            <a:endParaRPr lang="en-US" dirty="0"/>
          </a:p>
        </p:txBody>
      </p:sp>
    </p:spTree>
    <p:extLst>
      <p:ext uri="{BB962C8B-B14F-4D97-AF65-F5344CB8AC3E}">
        <p14:creationId xmlns:p14="http://schemas.microsoft.com/office/powerpoint/2010/main" val="4013809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5DE70-7EB1-7405-634B-09D3A2BF56A5}"/>
              </a:ext>
            </a:extLst>
          </p:cNvPr>
          <p:cNvSpPr>
            <a:spLocks noGrp="1"/>
          </p:cNvSpPr>
          <p:nvPr>
            <p:ph type="title"/>
          </p:nvPr>
        </p:nvSpPr>
        <p:spPr/>
        <p:txBody>
          <a:bodyPr/>
          <a:lstStyle/>
          <a:p>
            <a:r>
              <a:rPr lang="en-IN" sz="3200" dirty="0" err="1">
                <a:latin typeface="Times New Roman" panose="02020603050405020304" pitchFamily="18" charset="0"/>
                <a:cs typeface="Times New Roman" panose="02020603050405020304" pitchFamily="18" charset="0"/>
              </a:rPr>
              <a:t>Behavior</a:t>
            </a:r>
            <a:r>
              <a:rPr lang="en-IN" sz="3200" dirty="0">
                <a:latin typeface="Times New Roman" panose="02020603050405020304" pitchFamily="18" charset="0"/>
                <a:cs typeface="Times New Roman" panose="02020603050405020304" pitchFamily="18" charset="0"/>
              </a:rPr>
              <a:t> Performance Analysis</a:t>
            </a:r>
          </a:p>
        </p:txBody>
      </p:sp>
      <p:sp>
        <p:nvSpPr>
          <p:cNvPr id="3" name="Content Placeholder 2">
            <a:extLst>
              <a:ext uri="{FF2B5EF4-FFF2-40B4-BE49-F238E27FC236}">
                <a16:creationId xmlns:a16="http://schemas.microsoft.com/office/drawing/2014/main" id="{D63D401D-2F2B-F25C-2D78-4D71F2F18BC6}"/>
              </a:ext>
            </a:extLst>
          </p:cNvPr>
          <p:cNvSpPr>
            <a:spLocks noGrp="1"/>
          </p:cNvSpPr>
          <p:nvPr>
            <p:ph sz="half" idx="2"/>
          </p:nvPr>
        </p:nvSpPr>
        <p:spPr/>
        <p:txBody>
          <a:bodyPr/>
          <a:lstStyle/>
          <a:p>
            <a:pPr marL="0" indent="0">
              <a:buNone/>
            </a:pPr>
            <a:r>
              <a:rPr lang="en-US" sz="2400" dirty="0">
                <a:latin typeface="Times New Roman" panose="02020603050405020304" pitchFamily="18" charset="0"/>
                <a:cs typeface="Times New Roman" panose="02020603050405020304" pitchFamily="18" charset="0"/>
              </a:rPr>
              <a:t>Bird detection methods provide insights into behavior.</a:t>
            </a:r>
          </a:p>
          <a:p>
            <a:r>
              <a:rPr lang="en-US" sz="2400" b="1" dirty="0">
                <a:latin typeface="Times New Roman" panose="02020603050405020304" pitchFamily="18" charset="0"/>
                <a:cs typeface="Times New Roman" panose="02020603050405020304" pitchFamily="18" charset="0"/>
              </a:rPr>
              <a:t>Singing</a:t>
            </a:r>
            <a:r>
              <a:rPr lang="en-US" sz="2400" dirty="0">
                <a:latin typeface="Times New Roman" panose="02020603050405020304" pitchFamily="18" charset="0"/>
                <a:cs typeface="Times New Roman" panose="02020603050405020304" pitchFamily="18" charset="0"/>
              </a:rPr>
              <a:t> → Most common detection method </a:t>
            </a:r>
          </a:p>
          <a:p>
            <a:r>
              <a:rPr lang="en-US" sz="2400" b="1" dirty="0">
                <a:latin typeface="Times New Roman" panose="02020603050405020304" pitchFamily="18" charset="0"/>
                <a:cs typeface="Times New Roman" panose="02020603050405020304" pitchFamily="18" charset="0"/>
              </a:rPr>
              <a:t>Calling</a:t>
            </a:r>
            <a:r>
              <a:rPr lang="en-US" sz="2400" dirty="0">
                <a:latin typeface="Times New Roman" panose="02020603050405020304" pitchFamily="18" charset="0"/>
                <a:cs typeface="Times New Roman" panose="02020603050405020304" pitchFamily="18" charset="0"/>
              </a:rPr>
              <a:t> → Second highest </a:t>
            </a:r>
          </a:p>
          <a:p>
            <a:r>
              <a:rPr lang="en-US" sz="2400" b="1" dirty="0">
                <a:latin typeface="Times New Roman" panose="02020603050405020304" pitchFamily="18" charset="0"/>
                <a:cs typeface="Times New Roman" panose="02020603050405020304" pitchFamily="18" charset="0"/>
              </a:rPr>
              <a:t>Visual observation</a:t>
            </a:r>
            <a:r>
              <a:rPr lang="en-US" sz="2400" dirty="0">
                <a:latin typeface="Times New Roman" panose="02020603050405020304" pitchFamily="18" charset="0"/>
                <a:cs typeface="Times New Roman" panose="02020603050405020304" pitchFamily="18" charset="0"/>
              </a:rPr>
              <a:t> → Less frequent </a:t>
            </a:r>
          </a:p>
          <a:p>
            <a:endParaRPr lang="en-IN" dirty="0"/>
          </a:p>
        </p:txBody>
      </p:sp>
      <p:sp>
        <p:nvSpPr>
          <p:cNvPr id="4" name="Slide Number Placeholder 3">
            <a:extLst>
              <a:ext uri="{FF2B5EF4-FFF2-40B4-BE49-F238E27FC236}">
                <a16:creationId xmlns:a16="http://schemas.microsoft.com/office/drawing/2014/main" id="{A75BBE33-C643-B192-B07C-2147E03473EE}"/>
              </a:ext>
            </a:extLst>
          </p:cNvPr>
          <p:cNvSpPr>
            <a:spLocks noGrp="1"/>
          </p:cNvSpPr>
          <p:nvPr>
            <p:ph type="sldNum" sz="quarter" idx="10"/>
          </p:nvPr>
        </p:nvSpPr>
        <p:spPr/>
        <p:txBody>
          <a:bodyPr/>
          <a:lstStyle/>
          <a:p>
            <a:fld id="{48F63A3B-78C7-47BE-AE5E-E10140E04643}" type="slidenum">
              <a:rPr lang="en-US" smtClean="0"/>
              <a:pPr/>
              <a:t>13</a:t>
            </a:fld>
            <a:endParaRPr lang="en-US" dirty="0"/>
          </a:p>
        </p:txBody>
      </p:sp>
    </p:spTree>
    <p:extLst>
      <p:ext uri="{BB962C8B-B14F-4D97-AF65-F5344CB8AC3E}">
        <p14:creationId xmlns:p14="http://schemas.microsoft.com/office/powerpoint/2010/main" val="24514333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17DB7-FAD2-ECCC-B6B1-7E0A8A97626E}"/>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Dashboard Overview &amp; Key Performance Indicators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F0D0E78-265E-4541-2B19-48CF035F64E2}"/>
              </a:ext>
            </a:extLst>
          </p:cNvPr>
          <p:cNvSpPr>
            <a:spLocks noGrp="1"/>
          </p:cNvSpPr>
          <p:nvPr>
            <p:ph sz="half" idx="2"/>
          </p:nvPr>
        </p:nvSpPr>
        <p:spPr/>
        <p:txBody>
          <a:bodyPr/>
          <a:lstStyle/>
          <a:p>
            <a:pPr marL="0" indent="0" algn="just">
              <a:buNone/>
            </a:pPr>
            <a:r>
              <a:rPr lang="en-US" sz="2400" dirty="0">
                <a:latin typeface="Times New Roman" panose="02020603050405020304" pitchFamily="18" charset="0"/>
                <a:cs typeface="Times New Roman" panose="02020603050405020304" pitchFamily="18" charset="0"/>
              </a:rPr>
              <a:t>The dashboard provides a quick overview of bird species observations using key performance indicators and visualizations. It highlights total observations, unique species count, habitat comparison, and environmental conditions such as temperature and humidity. The visualizations help analyze species distribution, temporal trends, location patterns, and behavioral insights, making it easier to understand biodiversity differences between forest and grassland habitats.</a:t>
            </a:r>
          </a:p>
          <a:p>
            <a:endParaRPr lang="en-IN" dirty="0"/>
          </a:p>
        </p:txBody>
      </p:sp>
      <p:sp>
        <p:nvSpPr>
          <p:cNvPr id="4" name="Slide Number Placeholder 3">
            <a:extLst>
              <a:ext uri="{FF2B5EF4-FFF2-40B4-BE49-F238E27FC236}">
                <a16:creationId xmlns:a16="http://schemas.microsoft.com/office/drawing/2014/main" id="{BE63ED02-61D2-3CF8-D840-3E05A562C6BA}"/>
              </a:ext>
            </a:extLst>
          </p:cNvPr>
          <p:cNvSpPr>
            <a:spLocks noGrp="1"/>
          </p:cNvSpPr>
          <p:nvPr>
            <p:ph type="sldNum" sz="quarter" idx="10"/>
          </p:nvPr>
        </p:nvSpPr>
        <p:spPr/>
        <p:txBody>
          <a:bodyPr/>
          <a:lstStyle/>
          <a:p>
            <a:fld id="{48F63A3B-78C7-47BE-AE5E-E10140E04643}" type="slidenum">
              <a:rPr lang="en-US" smtClean="0"/>
              <a:pPr/>
              <a:t>14</a:t>
            </a:fld>
            <a:endParaRPr lang="en-US" dirty="0"/>
          </a:p>
        </p:txBody>
      </p:sp>
    </p:spTree>
    <p:extLst>
      <p:ext uri="{BB962C8B-B14F-4D97-AF65-F5344CB8AC3E}">
        <p14:creationId xmlns:p14="http://schemas.microsoft.com/office/powerpoint/2010/main" val="1254222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E0012-06F3-5E2B-7892-357AC4E85327}"/>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DATASET OVERVIEW DASHBOARD</a:t>
            </a:r>
          </a:p>
        </p:txBody>
      </p:sp>
      <p:pic>
        <p:nvPicPr>
          <p:cNvPr id="6" name="Content Placeholder 5">
            <a:extLst>
              <a:ext uri="{FF2B5EF4-FFF2-40B4-BE49-F238E27FC236}">
                <a16:creationId xmlns:a16="http://schemas.microsoft.com/office/drawing/2014/main" id="{36BC8F3A-7ACF-A718-2281-6BAA323B9B17}"/>
              </a:ext>
            </a:extLst>
          </p:cNvPr>
          <p:cNvPicPr>
            <a:picLocks noGrp="1" noChangeAspect="1"/>
          </p:cNvPicPr>
          <p:nvPr>
            <p:ph sz="half" idx="2"/>
          </p:nvPr>
        </p:nvPicPr>
        <p:blipFill>
          <a:blip r:embed="rId2"/>
          <a:stretch>
            <a:fillRect/>
          </a:stretch>
        </p:blipFill>
        <p:spPr>
          <a:xfrm>
            <a:off x="3460564" y="2303462"/>
            <a:ext cx="7965461" cy="4554537"/>
          </a:xfrm>
          <a:prstGeom prst="rect">
            <a:avLst/>
          </a:prstGeom>
        </p:spPr>
      </p:pic>
      <p:sp>
        <p:nvSpPr>
          <p:cNvPr id="4" name="Slide Number Placeholder 3">
            <a:extLst>
              <a:ext uri="{FF2B5EF4-FFF2-40B4-BE49-F238E27FC236}">
                <a16:creationId xmlns:a16="http://schemas.microsoft.com/office/drawing/2014/main" id="{8BB940B0-CF7D-0340-048E-B1AC527071A5}"/>
              </a:ext>
            </a:extLst>
          </p:cNvPr>
          <p:cNvSpPr>
            <a:spLocks noGrp="1"/>
          </p:cNvSpPr>
          <p:nvPr>
            <p:ph type="sldNum" sz="quarter" idx="10"/>
          </p:nvPr>
        </p:nvSpPr>
        <p:spPr/>
        <p:txBody>
          <a:bodyPr/>
          <a:lstStyle/>
          <a:p>
            <a:fld id="{48F63A3B-78C7-47BE-AE5E-E10140E04643}" type="slidenum">
              <a:rPr lang="en-US" smtClean="0"/>
              <a:pPr/>
              <a:t>15</a:t>
            </a:fld>
            <a:endParaRPr lang="en-US" dirty="0"/>
          </a:p>
        </p:txBody>
      </p:sp>
    </p:spTree>
    <p:extLst>
      <p:ext uri="{BB962C8B-B14F-4D97-AF65-F5344CB8AC3E}">
        <p14:creationId xmlns:p14="http://schemas.microsoft.com/office/powerpoint/2010/main" val="1447451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2B561-AFE4-A7F6-06E7-B2E8A746BDE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SPECIEUS AND LOCATION</a:t>
            </a:r>
          </a:p>
        </p:txBody>
      </p:sp>
      <p:pic>
        <p:nvPicPr>
          <p:cNvPr id="6" name="Content Placeholder 5">
            <a:extLst>
              <a:ext uri="{FF2B5EF4-FFF2-40B4-BE49-F238E27FC236}">
                <a16:creationId xmlns:a16="http://schemas.microsoft.com/office/drawing/2014/main" id="{41EA49A5-7B55-A84D-E85B-359528361726}"/>
              </a:ext>
            </a:extLst>
          </p:cNvPr>
          <p:cNvPicPr>
            <a:picLocks noGrp="1" noChangeAspect="1"/>
          </p:cNvPicPr>
          <p:nvPr>
            <p:ph sz="half" idx="2"/>
          </p:nvPr>
        </p:nvPicPr>
        <p:blipFill>
          <a:blip r:embed="rId2"/>
          <a:stretch>
            <a:fillRect/>
          </a:stretch>
        </p:blipFill>
        <p:spPr>
          <a:xfrm>
            <a:off x="3460565" y="2303462"/>
            <a:ext cx="7965461" cy="4554537"/>
          </a:xfrm>
          <a:prstGeom prst="rect">
            <a:avLst/>
          </a:prstGeom>
        </p:spPr>
      </p:pic>
      <p:sp>
        <p:nvSpPr>
          <p:cNvPr id="4" name="Slide Number Placeholder 3">
            <a:extLst>
              <a:ext uri="{FF2B5EF4-FFF2-40B4-BE49-F238E27FC236}">
                <a16:creationId xmlns:a16="http://schemas.microsoft.com/office/drawing/2014/main" id="{C9FEA811-EF6A-2918-0C30-E6DD7366F756}"/>
              </a:ext>
            </a:extLst>
          </p:cNvPr>
          <p:cNvSpPr>
            <a:spLocks noGrp="1"/>
          </p:cNvSpPr>
          <p:nvPr>
            <p:ph type="sldNum" sz="quarter" idx="10"/>
          </p:nvPr>
        </p:nvSpPr>
        <p:spPr/>
        <p:txBody>
          <a:bodyPr/>
          <a:lstStyle/>
          <a:p>
            <a:fld id="{48F63A3B-78C7-47BE-AE5E-E10140E04643}" type="slidenum">
              <a:rPr lang="en-US" smtClean="0"/>
              <a:pPr/>
              <a:t>16</a:t>
            </a:fld>
            <a:endParaRPr lang="en-US" dirty="0"/>
          </a:p>
        </p:txBody>
      </p:sp>
    </p:spTree>
    <p:extLst>
      <p:ext uri="{BB962C8B-B14F-4D97-AF65-F5344CB8AC3E}">
        <p14:creationId xmlns:p14="http://schemas.microsoft.com/office/powerpoint/2010/main" val="7169679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B2B58-F32E-76C0-CB32-0744E27C9DF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ENVIRONMENT AND BEHAVIOR</a:t>
            </a:r>
          </a:p>
        </p:txBody>
      </p:sp>
      <p:pic>
        <p:nvPicPr>
          <p:cNvPr id="6" name="Content Placeholder 5">
            <a:extLst>
              <a:ext uri="{FF2B5EF4-FFF2-40B4-BE49-F238E27FC236}">
                <a16:creationId xmlns:a16="http://schemas.microsoft.com/office/drawing/2014/main" id="{F301D9BD-597E-3FE2-688E-A3BB4E074857}"/>
              </a:ext>
            </a:extLst>
          </p:cNvPr>
          <p:cNvPicPr>
            <a:picLocks noGrp="1" noChangeAspect="1"/>
          </p:cNvPicPr>
          <p:nvPr>
            <p:ph sz="half" idx="2"/>
          </p:nvPr>
        </p:nvPicPr>
        <p:blipFill>
          <a:blip r:embed="rId2"/>
          <a:stretch>
            <a:fillRect/>
          </a:stretch>
        </p:blipFill>
        <p:spPr>
          <a:xfrm>
            <a:off x="3460565" y="2303462"/>
            <a:ext cx="7965461" cy="4554537"/>
          </a:xfrm>
          <a:prstGeom prst="rect">
            <a:avLst/>
          </a:prstGeom>
        </p:spPr>
      </p:pic>
      <p:sp>
        <p:nvSpPr>
          <p:cNvPr id="4" name="Slide Number Placeholder 3">
            <a:extLst>
              <a:ext uri="{FF2B5EF4-FFF2-40B4-BE49-F238E27FC236}">
                <a16:creationId xmlns:a16="http://schemas.microsoft.com/office/drawing/2014/main" id="{4B2B01F7-F400-6790-7E3A-61E36ACF293B}"/>
              </a:ext>
            </a:extLst>
          </p:cNvPr>
          <p:cNvSpPr>
            <a:spLocks noGrp="1"/>
          </p:cNvSpPr>
          <p:nvPr>
            <p:ph type="sldNum" sz="quarter" idx="10"/>
          </p:nvPr>
        </p:nvSpPr>
        <p:spPr/>
        <p:txBody>
          <a:bodyPr/>
          <a:lstStyle/>
          <a:p>
            <a:fld id="{48F63A3B-78C7-47BE-AE5E-E10140E04643}" type="slidenum">
              <a:rPr lang="en-US" smtClean="0"/>
              <a:pPr/>
              <a:t>17</a:t>
            </a:fld>
            <a:endParaRPr lang="en-US" dirty="0"/>
          </a:p>
        </p:txBody>
      </p:sp>
    </p:spTree>
    <p:extLst>
      <p:ext uri="{BB962C8B-B14F-4D97-AF65-F5344CB8AC3E}">
        <p14:creationId xmlns:p14="http://schemas.microsoft.com/office/powerpoint/2010/main" val="31516333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D2BD4-F33E-AFB4-7B0D-BADC54A4DA4B}"/>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INSIGHTS &amp; FINDINGS</a:t>
            </a:r>
          </a:p>
        </p:txBody>
      </p:sp>
      <p:sp>
        <p:nvSpPr>
          <p:cNvPr id="3" name="Content Placeholder 2">
            <a:extLst>
              <a:ext uri="{FF2B5EF4-FFF2-40B4-BE49-F238E27FC236}">
                <a16:creationId xmlns:a16="http://schemas.microsoft.com/office/drawing/2014/main" id="{C3060D57-A8DA-B83C-A39D-468DF1278FE0}"/>
              </a:ext>
            </a:extLst>
          </p:cNvPr>
          <p:cNvSpPr>
            <a:spLocks noGrp="1"/>
          </p:cNvSpPr>
          <p:nvPr>
            <p:ph sz="half" idx="2"/>
          </p:nvPr>
        </p:nvSpPr>
        <p:spPr>
          <a:xfrm>
            <a:off x="3460565" y="2303028"/>
            <a:ext cx="7965460" cy="4323913"/>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Key findings from the analysis:</a:t>
            </a:r>
          </a:p>
          <a:p>
            <a:r>
              <a:rPr lang="en-US" sz="2400" dirty="0">
                <a:latin typeface="Times New Roman" panose="02020603050405020304" pitchFamily="18" charset="0"/>
                <a:cs typeface="Times New Roman" panose="02020603050405020304" pitchFamily="18" charset="0"/>
              </a:rPr>
              <a:t>Forest habitats have higher species diversity due to favorable conditions </a:t>
            </a:r>
          </a:p>
          <a:p>
            <a:r>
              <a:rPr lang="en-US" sz="2400" dirty="0">
                <a:latin typeface="Times New Roman" panose="02020603050405020304" pitchFamily="18" charset="0"/>
                <a:cs typeface="Times New Roman" panose="02020603050405020304" pitchFamily="18" charset="0"/>
              </a:rPr>
              <a:t>Grasslands support fewer but specialized species </a:t>
            </a:r>
          </a:p>
          <a:p>
            <a:r>
              <a:rPr lang="en-US" sz="2400" dirty="0">
                <a:latin typeface="Times New Roman" panose="02020603050405020304" pitchFamily="18" charset="0"/>
                <a:cs typeface="Times New Roman" panose="02020603050405020304" pitchFamily="18" charset="0"/>
              </a:rPr>
              <a:t>Bird activity is highest during moderate temperature (20–30°C) </a:t>
            </a:r>
          </a:p>
          <a:p>
            <a:r>
              <a:rPr lang="en-US" sz="2400" dirty="0">
                <a:latin typeface="Times New Roman" panose="02020603050405020304" pitchFamily="18" charset="0"/>
                <a:cs typeface="Times New Roman" panose="02020603050405020304" pitchFamily="18" charset="0"/>
              </a:rPr>
              <a:t>Seasonal patterns show peak activity in spring </a:t>
            </a:r>
          </a:p>
          <a:p>
            <a:r>
              <a:rPr lang="en-US" sz="2400" dirty="0">
                <a:latin typeface="Times New Roman" panose="02020603050405020304" pitchFamily="18" charset="0"/>
                <a:cs typeface="Times New Roman" panose="02020603050405020304" pitchFamily="18" charset="0"/>
              </a:rPr>
              <a:t>Singing is the most common observation method </a:t>
            </a:r>
          </a:p>
          <a:p>
            <a:r>
              <a:rPr lang="en-US" sz="2400" dirty="0">
                <a:latin typeface="Times New Roman" panose="02020603050405020304" pitchFamily="18" charset="0"/>
                <a:cs typeface="Times New Roman" panose="02020603050405020304" pitchFamily="18" charset="0"/>
              </a:rPr>
              <a:t>Some locations act as biodiversity hotspots</a:t>
            </a:r>
          </a:p>
          <a:p>
            <a:endParaRPr lang="en-IN" dirty="0"/>
          </a:p>
        </p:txBody>
      </p:sp>
      <p:sp>
        <p:nvSpPr>
          <p:cNvPr id="4" name="Slide Number Placeholder 3">
            <a:extLst>
              <a:ext uri="{FF2B5EF4-FFF2-40B4-BE49-F238E27FC236}">
                <a16:creationId xmlns:a16="http://schemas.microsoft.com/office/drawing/2014/main" id="{173BBAC6-23D4-5D0B-61DD-40B2ECB8142C}"/>
              </a:ext>
            </a:extLst>
          </p:cNvPr>
          <p:cNvSpPr>
            <a:spLocks noGrp="1"/>
          </p:cNvSpPr>
          <p:nvPr>
            <p:ph type="sldNum" sz="quarter" idx="10"/>
          </p:nvPr>
        </p:nvSpPr>
        <p:spPr/>
        <p:txBody>
          <a:bodyPr/>
          <a:lstStyle/>
          <a:p>
            <a:fld id="{48F63A3B-78C7-47BE-AE5E-E10140E04643}" type="slidenum">
              <a:rPr lang="en-US" smtClean="0"/>
              <a:pPr/>
              <a:t>18</a:t>
            </a:fld>
            <a:endParaRPr lang="en-US" dirty="0"/>
          </a:p>
        </p:txBody>
      </p:sp>
    </p:spTree>
    <p:extLst>
      <p:ext uri="{BB962C8B-B14F-4D97-AF65-F5344CB8AC3E}">
        <p14:creationId xmlns:p14="http://schemas.microsoft.com/office/powerpoint/2010/main" val="26050782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8662C-2DFB-E404-92A2-D54527C56C83}"/>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BUSINESS RECOMMENDATIONS</a:t>
            </a:r>
          </a:p>
        </p:txBody>
      </p:sp>
      <p:sp>
        <p:nvSpPr>
          <p:cNvPr id="3" name="Content Placeholder 2">
            <a:extLst>
              <a:ext uri="{FF2B5EF4-FFF2-40B4-BE49-F238E27FC236}">
                <a16:creationId xmlns:a16="http://schemas.microsoft.com/office/drawing/2014/main" id="{37D9D21D-D890-8739-99D5-991ED0BDBBD4}"/>
              </a:ext>
            </a:extLst>
          </p:cNvPr>
          <p:cNvSpPr>
            <a:spLocks noGrp="1"/>
          </p:cNvSpPr>
          <p:nvPr>
            <p:ph sz="half" idx="2"/>
          </p:nvPr>
        </p:nvSpPr>
        <p:spPr/>
        <p:txBody>
          <a:bodyPr/>
          <a:lstStyle/>
          <a:p>
            <a:pPr marL="0" indent="0">
              <a:buNone/>
            </a:pPr>
            <a:r>
              <a:rPr lang="en-US" sz="2400" dirty="0">
                <a:latin typeface="Times New Roman" panose="02020603050405020304" pitchFamily="18" charset="0"/>
                <a:cs typeface="Times New Roman" panose="02020603050405020304" pitchFamily="18" charset="0"/>
              </a:rPr>
              <a:t>Based on insights:</a:t>
            </a:r>
          </a:p>
          <a:p>
            <a:r>
              <a:rPr lang="en-US" sz="2400" dirty="0">
                <a:latin typeface="Times New Roman" panose="02020603050405020304" pitchFamily="18" charset="0"/>
                <a:cs typeface="Times New Roman" panose="02020603050405020304" pitchFamily="18" charset="0"/>
              </a:rPr>
              <a:t>Focus conservation efforts on high biodiversity forest areas </a:t>
            </a:r>
          </a:p>
          <a:p>
            <a:r>
              <a:rPr lang="en-US" sz="2400" dirty="0">
                <a:latin typeface="Times New Roman" panose="02020603050405020304" pitchFamily="18" charset="0"/>
                <a:cs typeface="Times New Roman" panose="02020603050405020304" pitchFamily="18" charset="0"/>
              </a:rPr>
              <a:t>Protect and monitor identified hotspots </a:t>
            </a:r>
          </a:p>
          <a:p>
            <a:r>
              <a:rPr lang="en-US" sz="2400" dirty="0">
                <a:latin typeface="Times New Roman" panose="02020603050405020304" pitchFamily="18" charset="0"/>
                <a:cs typeface="Times New Roman" panose="02020603050405020304" pitchFamily="18" charset="0"/>
              </a:rPr>
              <a:t>Use environmental conditions for habitat planning </a:t>
            </a:r>
          </a:p>
          <a:p>
            <a:r>
              <a:rPr lang="en-US" sz="2400" dirty="0">
                <a:latin typeface="Times New Roman" panose="02020603050405020304" pitchFamily="18" charset="0"/>
                <a:cs typeface="Times New Roman" panose="02020603050405020304" pitchFamily="18" charset="0"/>
              </a:rPr>
              <a:t>Promote eco-tourism in bird-rich areas </a:t>
            </a:r>
          </a:p>
          <a:p>
            <a:r>
              <a:rPr lang="en-US" sz="2400" dirty="0">
                <a:latin typeface="Times New Roman" panose="02020603050405020304" pitchFamily="18" charset="0"/>
                <a:cs typeface="Times New Roman" panose="02020603050405020304" pitchFamily="18" charset="0"/>
              </a:rPr>
              <a:t>Improve monitoring techniques in grasslands </a:t>
            </a:r>
          </a:p>
          <a:p>
            <a:endParaRPr lang="en-IN" dirty="0"/>
          </a:p>
        </p:txBody>
      </p:sp>
      <p:sp>
        <p:nvSpPr>
          <p:cNvPr id="4" name="Slide Number Placeholder 3">
            <a:extLst>
              <a:ext uri="{FF2B5EF4-FFF2-40B4-BE49-F238E27FC236}">
                <a16:creationId xmlns:a16="http://schemas.microsoft.com/office/drawing/2014/main" id="{BB1E0438-541C-67F2-7CB0-4E40CB553C10}"/>
              </a:ext>
            </a:extLst>
          </p:cNvPr>
          <p:cNvSpPr>
            <a:spLocks noGrp="1"/>
          </p:cNvSpPr>
          <p:nvPr>
            <p:ph type="sldNum" sz="quarter" idx="10"/>
          </p:nvPr>
        </p:nvSpPr>
        <p:spPr/>
        <p:txBody>
          <a:bodyPr/>
          <a:lstStyle/>
          <a:p>
            <a:fld id="{48F63A3B-78C7-47BE-AE5E-E10140E04643}" type="slidenum">
              <a:rPr lang="en-US" smtClean="0"/>
              <a:pPr/>
              <a:t>19</a:t>
            </a:fld>
            <a:endParaRPr lang="en-US" dirty="0"/>
          </a:p>
        </p:txBody>
      </p:sp>
    </p:spTree>
    <p:extLst>
      <p:ext uri="{BB962C8B-B14F-4D97-AF65-F5344CB8AC3E}">
        <p14:creationId xmlns:p14="http://schemas.microsoft.com/office/powerpoint/2010/main" val="1027036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A9684-9463-F5CB-6954-F417DAACE44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D502FBAD-90F9-BC8A-DCBC-F0DB2442E88B}"/>
              </a:ext>
            </a:extLst>
          </p:cNvPr>
          <p:cNvSpPr>
            <a:spLocks noGrp="1"/>
          </p:cNvSpPr>
          <p:nvPr>
            <p:ph sz="half" idx="2"/>
          </p:nvPr>
        </p:nvSpPr>
        <p:spPr/>
        <p:txBody>
          <a:bodyPr/>
          <a:lstStyle/>
          <a:p>
            <a:pPr marL="0" indent="0" algn="just">
              <a:buNone/>
            </a:pPr>
            <a:r>
              <a:rPr lang="en-US" sz="2400" dirty="0">
                <a:latin typeface="Times New Roman" panose="02020603050405020304" pitchFamily="18" charset="0"/>
                <a:cs typeface="Times New Roman" panose="02020603050405020304" pitchFamily="18" charset="0"/>
              </a:rPr>
              <a:t>The analysis demonstrates that forest ecosystems support greater biodiversity compared to grasslands. Environmental factors such as temperature, humidity, and weather conditions significantly influence bird activity. Temporal patterns also play a key role in bird observations. The project successfully transforms raw data into meaningful insights that support ecological conservation and decision-making.</a:t>
            </a:r>
          </a:p>
          <a:p>
            <a:endParaRPr lang="en-IN" dirty="0"/>
          </a:p>
        </p:txBody>
      </p:sp>
      <p:sp>
        <p:nvSpPr>
          <p:cNvPr id="4" name="Slide Number Placeholder 3">
            <a:extLst>
              <a:ext uri="{FF2B5EF4-FFF2-40B4-BE49-F238E27FC236}">
                <a16:creationId xmlns:a16="http://schemas.microsoft.com/office/drawing/2014/main" id="{CC1BFA45-F036-95EA-56D0-2048B0B4FFBB}"/>
              </a:ext>
            </a:extLst>
          </p:cNvPr>
          <p:cNvSpPr>
            <a:spLocks noGrp="1"/>
          </p:cNvSpPr>
          <p:nvPr>
            <p:ph type="sldNum" sz="quarter" idx="10"/>
          </p:nvPr>
        </p:nvSpPr>
        <p:spPr/>
        <p:txBody>
          <a:bodyPr/>
          <a:lstStyle/>
          <a:p>
            <a:fld id="{48F63A3B-78C7-47BE-AE5E-E10140E04643}" type="slidenum">
              <a:rPr lang="en-US" smtClean="0"/>
              <a:pPr/>
              <a:t>20</a:t>
            </a:fld>
            <a:endParaRPr lang="en-US" dirty="0"/>
          </a:p>
        </p:txBody>
      </p:sp>
    </p:spTree>
    <p:extLst>
      <p:ext uri="{BB962C8B-B14F-4D97-AF65-F5344CB8AC3E}">
        <p14:creationId xmlns:p14="http://schemas.microsoft.com/office/powerpoint/2010/main" val="3291476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title"/>
          </p:nvPr>
        </p:nvSpPr>
        <p:spPr>
          <a:xfrm>
            <a:off x="758952" y="1120877"/>
            <a:ext cx="10671048" cy="4178710"/>
          </a:xfrm>
        </p:spPr>
        <p:txBody>
          <a:bodyPr/>
          <a:lstStyle/>
          <a:p>
            <a:r>
              <a:rPr lang="en-US" dirty="0"/>
              <a:t>Thank </a:t>
            </a:r>
            <a:br>
              <a:rPr lang="en-US" dirty="0"/>
            </a:br>
            <a:r>
              <a:rPr lang="en-US" dirty="0"/>
              <a:t>you</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{3E4D739A-1BB0-40EA-A3FA-AC27FAECC9AF}TF8a9b5915-b8c7-461e-8cdd-693d48b5e32371f7b7e2_win32-4bf0b9a2ea37</Template>
  <TotalTime>68</TotalTime>
  <Words>863</Words>
  <Application>Microsoft Office PowerPoint</Application>
  <PresentationFormat>Widescreen</PresentationFormat>
  <Paragraphs>131</Paragraphs>
  <Slides>21</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Arial Black</vt:lpstr>
      <vt:lpstr>Calibri</vt:lpstr>
      <vt:lpstr>Sabon Next LT</vt:lpstr>
      <vt:lpstr>Times New Roman</vt:lpstr>
      <vt:lpstr>Custom</vt:lpstr>
      <vt:lpstr>Bird Species Observation Analysis Across Forest and Grassland Ecosystems</vt:lpstr>
      <vt:lpstr>CONTENTS</vt:lpstr>
      <vt:lpstr>EXECUTIVE SUMMARY</vt:lpstr>
      <vt:lpstr>OBJECTIVE</vt:lpstr>
      <vt:lpstr>PROBLEM STATEMENT</vt:lpstr>
      <vt:lpstr>DATASET OVERVIEW</vt:lpstr>
      <vt:lpstr>DATA PREPARATION &amp; CLEANING</vt:lpstr>
      <vt:lpstr>ANALYSIS PERFORMED</vt:lpstr>
      <vt:lpstr>Habitat Performance Analysis</vt:lpstr>
      <vt:lpstr>Species Performance Analysis</vt:lpstr>
      <vt:lpstr>Location Performance Analysis</vt:lpstr>
      <vt:lpstr>Environmental Performance Analysis</vt:lpstr>
      <vt:lpstr>Behavior Performance Analysis</vt:lpstr>
      <vt:lpstr>Dashboard Overview &amp; Key Performance Indicators</vt:lpstr>
      <vt:lpstr>DATASET OVERVIEW DASHBOARD</vt:lpstr>
      <vt:lpstr>SPECIEUS AND LOCATION</vt:lpstr>
      <vt:lpstr>ENVIRONMENT AND BEHAVIOR</vt:lpstr>
      <vt:lpstr>INSIGHTS &amp; FINDINGS</vt:lpstr>
      <vt:lpstr>BUSINESS RECOMMENDATIONS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 NAGA LAKSHMI</dc:creator>
  <cp:lastModifiedBy>G. NAGA LAKSHMI</cp:lastModifiedBy>
  <cp:revision>1</cp:revision>
  <dcterms:created xsi:type="dcterms:W3CDTF">2026-03-24T07:13:42Z</dcterms:created>
  <dcterms:modified xsi:type="dcterms:W3CDTF">2026-03-24T08:22:15Z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